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6" y="-18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7641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B3A74">
                  <a:alpha val="100000"/>
                </a:srgbClr>
              </a:gs>
              <a:gs pos="100000">
                <a:srgbClr val="07274E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1659" y="163950"/>
            <a:ext cx="8779824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Assessing </a:t>
            </a:r>
            <a:r>
              <a:rPr lang="en-US" sz="18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Network Workloads on Multicore Quantum Architectures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1659" y="798950"/>
            <a:ext cx="7626341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8C8C8"/>
                </a:solidFill>
                <a:latin typeface="Merriweather"/>
                <a:ea typeface="Merriweather"/>
                <a:cs typeface="Merriweather"/>
                <a:sym typeface="Merriweather"/>
              </a:rPr>
              <a:t>Sadit Joarder, Daniel Kotlyar, Rahaf Al Ostwani, Justin Dang, Ethan Wong, Seham Al Abdul Wahid, Farah Mohammadi, Arghavan Asad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C8C8C8"/>
                </a:solidFill>
                <a:latin typeface="Inter"/>
                <a:ea typeface="Inter"/>
                <a:cs typeface="Inter"/>
                <a:sym typeface="Inter"/>
              </a:rPr>
              <a:t>Department of Electrical, Computer, and Biomedical Engineering, Toronto Metropolitan University</a:t>
            </a:r>
          </a:p>
          <a:p>
            <a:pPr indent="0" algn="l">
              <a:lnSpc>
                <a:spcPct val="125000"/>
              </a:lnSpc>
            </a:pPr>
            <a:endParaRPr lang="en-US" sz="900" b="0" i="0" u="none" strike="noStrike">
              <a:solidFill>
                <a:srgbClr val="C8C8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54000" y="1992059"/>
            <a:ext cx="3810000" cy="6004471"/>
          </a:xfrm>
          <a:prstGeom prst="roundRect">
            <a:avLst>
              <a:gd name="adj" fmla="val 2666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81000" y="2119059"/>
            <a:ext cx="63500" cy="31750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500" y="2119059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563559"/>
            <a:ext cx="1714500" cy="885544"/>
          </a:xfrm>
          <a:prstGeom prst="roundRect">
            <a:avLst>
              <a:gd name="adj" fmla="val 11473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20 Million</a:t>
            </a:r>
            <a:br>
              <a:rPr lang="en-US" sz="17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900" b="0" i="0" u="none" strike="noStrike">
                <a:solidFill>
                  <a:srgbClr val="FFFFFF">
                    <a:alpha val="80000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rPr>
              <a:t>Qubits to break 2048-bit encryption key in 8 hours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22500" y="2563559"/>
            <a:ext cx="1714500" cy="885544"/>
          </a:xfrm>
          <a:prstGeom prst="roundRect">
            <a:avLst>
              <a:gd name="adj" fmla="val 11473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1 Thousand</a:t>
            </a:r>
            <a:br>
              <a:rPr lang="en-US" sz="20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900" b="0" i="0" u="none" strike="noStrike">
                <a:solidFill>
                  <a:srgbClr val="FFFFFF">
                    <a:alpha val="80000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rPr>
              <a:t>Qubits in IBM's Condor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2750" y="3535109"/>
            <a:ext cx="3460750" cy="9035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  <a:defRPr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Problem: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current Noisy Intermediate-Scale Quantum (NISQ) era suffers from high noise and a limited number of qubits</a:t>
            </a:r>
            <a:endParaRPr lang="en-US" sz="1100" dirty="0"/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Solution: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Distributed Quantum Computing (DQC) using a Quantum Network-on-Chip (</a:t>
            </a:r>
            <a:r>
              <a:rPr lang="en-US" sz="9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QNoC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 design can scale up available qubits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1000" y="4228185"/>
            <a:ext cx="63500" cy="31750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71500" y="4228185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700" b="1" i="0" u="none" strike="noStrike" dirty="0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2525439" y="4666559"/>
            <a:ext cx="1284561" cy="33299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  <a:defRPr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Goal: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Evaluate scalability trade-offs of 8 synthetic traffic patterns and Quantum Convolutional Neural Network (QCNN) workloads on a </a:t>
            </a:r>
            <a:r>
              <a:rPr lang="en-US" sz="9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QNoC</a:t>
            </a:r>
            <a:endParaRPr lang="en-US" sz="1100" dirty="0"/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Significance: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Improving efficiency for massive computational tasks, such as training Large Language Models (LLMs), which currently require millions of qubits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191000" y="1992059"/>
            <a:ext cx="3810000" cy="6004471"/>
          </a:xfrm>
          <a:prstGeom prst="roundRect">
            <a:avLst>
              <a:gd name="adj" fmla="val 2666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318000" y="2119059"/>
            <a:ext cx="63500" cy="31750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2119059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992059"/>
            <a:ext cx="3810000" cy="6004471"/>
          </a:xfrm>
          <a:prstGeom prst="roundRect">
            <a:avLst>
              <a:gd name="adj" fmla="val 2666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0" y="2119059"/>
            <a:ext cx="63500" cy="31750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445500" y="2119059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01225" y="322746"/>
            <a:ext cx="1946275" cy="105640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81500" y="2809368"/>
            <a:ext cx="1621582" cy="127947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4381500" y="2538962"/>
            <a:ext cx="60036" cy="22225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508500" y="2484714"/>
            <a:ext cx="3121891" cy="3246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88920" y="2831538"/>
            <a:ext cx="1568471" cy="1257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NoC Topology: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4x4 2D Mesh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Qubits Per Core: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Routing Algorithm: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XY</a:t>
            </a:r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LTM Ports Per Core: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Link Width: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8 bits</a:t>
            </a:r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Mapping: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Sequential/Random</a:t>
            </a:r>
          </a:p>
          <a:p>
            <a:pPr indent="0" algn="l">
              <a:lnSpc>
                <a:spcPct val="125000"/>
              </a:lnSpc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Simulator: </a:t>
            </a:r>
            <a:r>
              <a:rPr lang="en-US" sz="900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lang="en-US" sz="9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comm</a:t>
            </a:r>
            <a:endParaRPr lang="en-US" sz="900" b="0" i="0" u="none" strike="noStrike" dirty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381500" y="4174300"/>
            <a:ext cx="60036" cy="22225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508500" y="4174300"/>
            <a:ext cx="3121891" cy="222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Stress Testing Synthetic Traffic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81500" y="4466537"/>
            <a:ext cx="3429000" cy="629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  <a:defRPr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Zero Bottleneck: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Default parameter settings in </a:t>
            </a:r>
            <a:r>
              <a:rPr lang="en-US" sz="900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lang="en-US" sz="9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comm</a:t>
            </a:r>
            <a:endParaRPr lang="en-US" sz="1100" dirty="0"/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Classical Bottleneck: 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Quantum parameters improved by 20x</a:t>
            </a:r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Quantum Bottleneck:</a:t>
            </a: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Classical parameters improved by 20x</a:t>
            </a:r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Swept simulations from 200 to 1000 quantum gates</a:t>
            </a:r>
          </a:p>
        </p:txBody>
      </p:sp>
      <p:sp>
        <p:nvSpPr>
          <p:cNvPr id="29" name="AutoShape 29"/>
          <p:cNvSpPr/>
          <p:nvPr/>
        </p:nvSpPr>
        <p:spPr>
          <a:xfrm>
            <a:off x="4381500" y="5127755"/>
            <a:ext cx="60036" cy="22225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508500" y="5127755"/>
            <a:ext cx="3121891" cy="222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QCNN on Mesh vs. Monolithic Platform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381500" y="5419992"/>
            <a:ext cx="3302000" cy="6368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  <a:defRPr/>
            </a:pP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Compared under usage of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NoC</a:t>
            </a: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wireless NoC (WiNoC)</a:t>
            </a:r>
            <a:endParaRPr lang="en-US" sz="1100"/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Swept simulations from 1x1 to 10x10 input sizes</a:t>
            </a:r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Circuit built in Python using IBM's QCNN layers and Qiskit's ZFeatureMap for encoding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318500" y="2538962"/>
            <a:ext cx="60036" cy="22225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445500" y="2538962"/>
            <a:ext cx="3121891" cy="222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Butterfly Is Best and Hotspot Scales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18500" y="2809368"/>
            <a:ext cx="1727055" cy="106052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6"/>
          <a:srcRect b="902"/>
          <a:stretch>
            <a:fillRect/>
          </a:stretch>
        </p:blipFill>
        <p:spPr>
          <a:xfrm>
            <a:off x="10033000" y="2809368"/>
            <a:ext cx="1737614" cy="10608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8489345" y="5384035"/>
            <a:ext cx="1385364" cy="635000"/>
          </a:xfrm>
          <a:prstGeom prst="roundRect">
            <a:avLst>
              <a:gd name="adj" fmla="val 1600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1.45% higher</a:t>
            </a:r>
            <a:b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900" b="0" i="0" u="none" strike="noStrike">
                <a:solidFill>
                  <a:srgbClr val="FFFFFF">
                    <a:alpha val="80000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rPr>
              <a:t>qubit coherence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18500" y="3969554"/>
            <a:ext cx="60036" cy="22225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445500" y="3969554"/>
            <a:ext cx="3121891" cy="222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LTM Ports Make QCNN Better on WiNoC</a:t>
            </a:r>
            <a:endParaRPr lang="en-US" sz="1100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18500" y="4239959"/>
            <a:ext cx="1715785" cy="10567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039635" y="4239959"/>
            <a:ext cx="1730979" cy="106639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1" name="AutoShape 41"/>
          <p:cNvSpPr/>
          <p:nvPr/>
        </p:nvSpPr>
        <p:spPr>
          <a:xfrm>
            <a:off x="10201875" y="5384035"/>
            <a:ext cx="1399863" cy="635000"/>
          </a:xfrm>
          <a:prstGeom prst="roundRect">
            <a:avLst>
              <a:gd name="adj" fmla="val 1600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8.91% faster</a:t>
            </a:r>
            <a:br>
              <a:rPr lang="en-US" sz="1400" b="1" i="0" u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900" b="0" i="0" u="none" strike="noStrike">
                <a:solidFill>
                  <a:srgbClr val="FFFFFF">
                    <a:alpha val="80000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rPr>
              <a:t>execution time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255000" y="6170495"/>
            <a:ext cx="63500" cy="317500"/>
          </a:xfrm>
          <a:prstGeom prst="roundRect">
            <a:avLst>
              <a:gd name="adj" fmla="val 0"/>
            </a:avLst>
          </a:prstGeom>
          <a:solidFill>
            <a:srgbClr val="0B3A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8445500" y="6170495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0B3A7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255000" y="6583245"/>
            <a:ext cx="3302000" cy="1279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  <a:defRPr/>
            </a:pP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DQC is a viable</a:t>
            </a: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path for running heavy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neural network</a:t>
            </a: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workloads in the NISQ era</a:t>
            </a:r>
            <a:endParaRPr lang="en-US" sz="1100"/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Standard mesh networks bottleneck machine learning traffic, but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WiNoC</a:t>
            </a: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provides the necessary low-latency shortcuts to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make QCNNs feasible</a:t>
            </a:r>
          </a:p>
          <a:p>
            <a:pPr marL="114300" indent="-114300" algn="l">
              <a:lnSpc>
                <a:spcPct val="108333"/>
              </a:lnSpc>
              <a:buClr>
                <a:srgbClr val="1F2937"/>
              </a:buClr>
              <a:buChar char="•"/>
            </a:pP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Development of specialized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routing protocols</a:t>
            </a:r>
            <a:r>
              <a:rPr lang="en-US" sz="9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that optimize for localized traffic and integrate hybrid wired/wireless quantum </a:t>
            </a:r>
            <a:r>
              <a:rPr lang="en-US" sz="9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interconnects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9"/>
          <a:srcRect l="315" r="315"/>
          <a:stretch>
            <a:fillRect/>
          </a:stretch>
        </p:blipFill>
        <p:spPr>
          <a:xfrm>
            <a:off x="4381500" y="6100852"/>
            <a:ext cx="2560350" cy="7410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rcRect l="315" r="315"/>
          <a:stretch>
            <a:fillRect/>
          </a:stretch>
        </p:blipFill>
        <p:spPr>
          <a:xfrm>
            <a:off x="4381500" y="6841931"/>
            <a:ext cx="2560350" cy="102078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1"/>
          <a:srcRect l="21480" r="22113"/>
          <a:stretch>
            <a:fillRect/>
          </a:stretch>
        </p:blipFill>
        <p:spPr>
          <a:xfrm>
            <a:off x="7021860" y="6613367"/>
            <a:ext cx="788640" cy="73895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8" name="AutoShape 48"/>
          <p:cNvSpPr/>
          <p:nvPr/>
        </p:nvSpPr>
        <p:spPr>
          <a:xfrm>
            <a:off x="0" y="8185802"/>
            <a:ext cx="12192000" cy="98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B3A74">
                  <a:alpha val="100000"/>
                </a:srgbClr>
              </a:gs>
              <a:gs pos="100000">
                <a:srgbClr val="07274E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968750" y="8350134"/>
            <a:ext cx="629535" cy="6295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0" name="AutoShape 50"/>
          <p:cNvSpPr/>
          <p:nvPr/>
        </p:nvSpPr>
        <p:spPr>
          <a:xfrm>
            <a:off x="4755487" y="8544251"/>
            <a:ext cx="3593031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8C8C8"/>
                </a:solidFill>
                <a:latin typeface="Inter"/>
                <a:ea typeface="Inter"/>
                <a:cs typeface="Inter"/>
                <a:sym typeface="Inter"/>
              </a:rPr>
              <a:t>Link to GitHub repository, paper, and references.</a:t>
            </a:r>
            <a:endParaRPr lang="en-US" sz="11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1D1CD1-8592-CAA8-9E04-9C1FAF5470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" t="5145" r="3917" b="4426"/>
          <a:stretch>
            <a:fillRect/>
          </a:stretch>
        </p:blipFill>
        <p:spPr bwMode="auto">
          <a:xfrm>
            <a:off x="380999" y="4598316"/>
            <a:ext cx="1997879" cy="326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Inter</vt:lpstr>
      <vt:lpstr>Merriweather</vt:lpstr>
      <vt:lpstr>Office 主题​​</vt:lpstr>
      <vt:lpstr>默认主题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Justin Dang</dc:creator>
  <cp:lastModifiedBy>Justin Dang</cp:lastModifiedBy>
  <cp:revision>4</cp:revision>
  <dcterms:modified xsi:type="dcterms:W3CDTF">2026-03-14T17:52:09Z</dcterms:modified>
</cp:coreProperties>
</file>